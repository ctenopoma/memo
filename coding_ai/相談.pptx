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46" autoAdjust="0"/>
    <p:restoredTop sz="95220" autoAdjust="0"/>
  </p:normalViewPr>
  <p:slideViewPr>
    <p:cSldViewPr snapToGrid="0">
      <p:cViewPr>
        <p:scale>
          <a:sx n="75" d="100"/>
          <a:sy n="75" d="100"/>
        </p:scale>
        <p:origin x="1059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EE474-0B10-4027-A1DA-57EAF787ED2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C9361-46E3-4CEE-8621-577E09C5A2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302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C9361-46E3-4CEE-8621-577E09C5A26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467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725AFC-6C17-0773-C92A-3D18B21F2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27FF60-F39C-A27B-D1F6-C933E7DAD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60CE8A-E369-346B-8E6F-6D0E628E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0C9E31-80DA-8C1F-F1F6-AE0D7A6F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B66029-7F56-0171-D155-501CF6D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76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11916C-2936-F1F7-9B97-39D946811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52D91B-0C44-30D7-4CE5-AA821258B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81D9B8-A15D-B222-1F49-E731A74C5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F08C10-0A54-3F5A-9DE6-41D13D5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6B60FF-16E6-0592-C293-E53CEA4D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51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7C1122-D9BC-19C9-0972-C6425F84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8B8A35-F60F-4F81-20C6-59225E701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ACF30B-E173-9B8D-F5FA-3CBBD787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0E0D73-A6A1-A066-1258-BCDB488F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15F931-4BA9-78AD-BC32-6E0C62393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23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9C4045-7E2F-4378-85F2-5CAFBF90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E30331-3408-DB92-D412-0ACE00385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A6FAE2-72BA-D92E-B598-2CF54BCFE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184386-3AA2-2592-30F1-394D3138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1E49DB-B24E-4ACE-051A-6534285F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3C12D5-7AAC-B870-D009-98CA3955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55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367A9A-FF90-FCAB-C948-4065364D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AC0B7E-C563-64B7-38DB-5CBD9074F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67E347-7A4C-E57E-65DD-1DBB32DD8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E3C9935-3640-AB34-018D-00B168610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D533331-B65C-A45B-49E2-D0F9B1D99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CFA934-9555-2C08-8C32-18D2AC17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8187B0D-3D7E-D592-B2E8-E847A04C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A32F33-32AC-26C5-157A-5D45C835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01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444C6C-35B3-6A03-E902-43A7352F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ED23C5-E9D8-23F0-4F23-779982934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AA2071A-5F39-ADFA-940C-FF3B4C5A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A53CC0-F845-44BC-A1B7-DC49EB5A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967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28FD3F4-80FB-4160-9BDB-5C132BC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BD305D-39CB-A94E-9892-76719BDC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37440C-8F9B-D4F9-DD3D-412B6E3E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197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651081-26FC-BEDD-AC1E-B9D079B3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0F5832-C1B6-5DB4-3726-11690282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47DC7B-0882-061B-92F5-13EA56F61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3A9D3A-C6B1-9BFD-D991-23D85F29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BD5D65-480F-9991-FEA0-C2FB93CA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FE96D0-2A83-5268-DCD2-2F5A5519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04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FDC9AB-0262-B3B6-9705-406E5A0D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1E7ACD-A713-C382-CD13-75B39A988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FC04BB-031D-F79B-2B63-0394AD115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7A54BA-4ED0-F646-4EA9-6C7B888D9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D629D3-35E8-2C74-03DA-C184BE35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21DD83-9475-7EBA-CDFC-3C8D03BC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86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AD7538-5EEC-37DA-1E1A-4C0A368B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DF2359-2956-700D-2280-4F3835C18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794F21-CFF2-C06A-2DF0-885D45BA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EDB47E-C0A5-14C8-A1DD-77B18E06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D1FBA3-1EE5-BBFC-42E6-299B681D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85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CBD7D1-7FC6-1157-2A6B-CA9C269BF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AA47CA-F587-A69D-D252-46C8294A6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54E533-7D34-3D23-094D-401065DD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FC1092-DBCA-A835-934B-B76756C2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303490-DC90-7BCF-E521-569987C7F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824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36C1CC9-2799-13CD-1CF9-0D62C796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B4E77B-FD0D-BFC5-36FC-323F262AE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9E340D-F94D-872E-C5D8-5102EAA84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15F7B-F5DC-45D5-A67C-3AEFCCB83AAD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1A1C96-CD97-743C-7676-C2CC64439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C27DFA-3556-2E5F-BC8A-449C3C613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9BD03-96D6-46F6-9886-4016A9D787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0016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AAD372-BD10-51C1-16FD-5CCB24CFC859}"/>
              </a:ext>
            </a:extLst>
          </p:cNvPr>
          <p:cNvSpPr txBox="1"/>
          <p:nvPr/>
        </p:nvSpPr>
        <p:spPr>
          <a:xfrm>
            <a:off x="339305" y="187728"/>
            <a:ext cx="2990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現状の課題と打ち手</a:t>
            </a:r>
            <a:endParaRPr kumimoji="1" lang="ja-JP" altLang="en-US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E3A646-6301-799D-B0C1-E84BC7BCB4C2}"/>
              </a:ext>
            </a:extLst>
          </p:cNvPr>
          <p:cNvSpPr txBox="1"/>
          <p:nvPr/>
        </p:nvSpPr>
        <p:spPr>
          <a:xfrm>
            <a:off x="1030547" y="840871"/>
            <a:ext cx="85815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課題</a:t>
            </a:r>
            <a:endParaRPr kumimoji="1"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既存コードを</a:t>
            </a:r>
            <a:r>
              <a:rPr lang="en-US" altLang="ja-JP" dirty="0"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に理解させるのが難しい</a:t>
            </a:r>
            <a:endParaRPr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既存コードを書き換える場合、改修仕様を作るのが大変</a:t>
            </a:r>
            <a:endParaRPr kumimoji="1"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打ち手：コードのグラフ</a:t>
            </a:r>
            <a:r>
              <a:rPr lang="en-US" altLang="ja-JP" dirty="0">
                <a:latin typeface="Yu Gothic UI" panose="020B0500000000000000" pitchFamily="50" charset="-128"/>
                <a:ea typeface="Yu Gothic UI" panose="020B0500000000000000" pitchFamily="50" charset="-128"/>
              </a:rPr>
              <a:t>RAG</a:t>
            </a:r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を構築</a:t>
            </a:r>
            <a:endParaRPr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既存コードを検索可能な環境を</a:t>
            </a:r>
            <a:r>
              <a:rPr kumimoji="1" lang="en-US" altLang="ja-JP" dirty="0"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に提供できる</a:t>
            </a:r>
            <a:endParaRPr kumimoji="1"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人が既存コードを理解する支援ができる</a:t>
            </a:r>
            <a:endParaRPr kumimoji="1" lang="ja-JP" altLang="en-US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365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9EC2E-A870-64EA-3CE4-CD8517E5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9289C1-1B6B-518C-E8E3-72412E0AF0A9}"/>
              </a:ext>
            </a:extLst>
          </p:cNvPr>
          <p:cNvSpPr txBox="1"/>
          <p:nvPr/>
        </p:nvSpPr>
        <p:spPr>
          <a:xfrm>
            <a:off x="339305" y="187728"/>
            <a:ext cx="2990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現状の課題と打ち手</a:t>
            </a:r>
            <a:endParaRPr kumimoji="1" lang="ja-JP" altLang="en-US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A48956A-0ED7-091E-C736-3D4DFF58C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7196"/>
              </p:ext>
            </p:extLst>
          </p:nvPr>
        </p:nvGraphicFramePr>
        <p:xfrm>
          <a:off x="391973" y="1584916"/>
          <a:ext cx="11157771" cy="427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65">
                  <a:extLst>
                    <a:ext uri="{9D8B030D-6E8A-4147-A177-3AD203B41FA5}">
                      <a16:colId xmlns:a16="http://schemas.microsoft.com/office/drawing/2014/main" val="435116908"/>
                    </a:ext>
                  </a:extLst>
                </a:gridCol>
                <a:gridCol w="3515134">
                  <a:extLst>
                    <a:ext uri="{9D8B030D-6E8A-4147-A177-3AD203B41FA5}">
                      <a16:colId xmlns:a16="http://schemas.microsoft.com/office/drawing/2014/main" val="4260568167"/>
                    </a:ext>
                  </a:extLst>
                </a:gridCol>
                <a:gridCol w="1087398">
                  <a:extLst>
                    <a:ext uri="{9D8B030D-6E8A-4147-A177-3AD203B41FA5}">
                      <a16:colId xmlns:a16="http://schemas.microsoft.com/office/drawing/2014/main" val="3089159630"/>
                    </a:ext>
                  </a:extLst>
                </a:gridCol>
                <a:gridCol w="6137874">
                  <a:extLst>
                    <a:ext uri="{9D8B030D-6E8A-4147-A177-3AD203B41FA5}">
                      <a16:colId xmlns:a16="http://schemas.microsoft.com/office/drawing/2014/main" val="2966208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手法名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所属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概要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042975"/>
                  </a:ext>
                </a:extLst>
              </a:tr>
              <a:tr h="395393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1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REPOGRAPH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University of Illinois Urbana-Champaign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コードの「</a:t>
                      </a:r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1</a:t>
                      </a: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行」をノード（頂点）とし、関数の定義や変数参照などの依存関係をエッジ（線）として結んだ巨大なグラフを作成</a:t>
                      </a:r>
                      <a:endParaRPr kumimoji="1" lang="en-US" altLang="ja-JP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Django</a:t>
                      </a: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、</a:t>
                      </a:r>
                      <a:r>
                        <a:rPr kumimoji="1" lang="en-US" altLang="ja-JP" sz="1400" b="0" dirty="0" err="1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Sympy</a:t>
                      </a: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Scikit-learn</a:t>
                      </a: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Sphinx</a:t>
                      </a: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、</a:t>
                      </a:r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Matplotlib</a:t>
                      </a: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など、数万</a:t>
                      </a:r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〜</a:t>
                      </a: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数十万行規模のコードベースを持つ実際の有名プロジェクトが対象</a:t>
                      </a:r>
                      <a:endParaRPr kumimoji="1" lang="en-US" altLang="ja-JP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00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件の現実の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GitHub Issue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のうち、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GPT-4o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を用いた構成で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29.67%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（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89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件）、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Claude 3.5 Sonnet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を用いた構成で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30.33%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（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91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件）を完全に解決した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445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2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RACG: </a:t>
                      </a:r>
                    </a:p>
                    <a:p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Retrieval-Augmented Code Generation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Carnegie Mellon University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抽象構文木（</a:t>
                      </a:r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AST</a:t>
                      </a:r>
                      <a:r>
                        <a:rPr kumimoji="1"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）やデータフロー、コールグラフなど、コード特有の構造的なつながり（グラフ）を利用して検索する手法。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003752"/>
                  </a:ext>
                </a:extLst>
              </a:tr>
              <a:tr h="41789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3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RPG: Repository Planning Graph 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Microsoft</a:t>
                      </a:r>
                      <a:endParaRPr kumimoji="1" lang="ja-JP" altLang="en-US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400" b="0" dirty="0"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RPG (Repository Planning Graph)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 リポジトリ生成における「何を構築するか（提案レベル）」と「どう構築するか（実装レベル）」の計画を統合するグラフ</a:t>
                      </a:r>
                      <a:endParaRPr lang="en-US" altLang="ja-JP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400" b="0" dirty="0" err="1"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ZeroRepo</a:t>
                      </a:r>
                      <a:r>
                        <a:rPr lang="ja-JP" altLang="en-US" sz="1400" b="0" dirty="0"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フレームワーク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 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RPG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に基づいてコードを自動生成するシステム</a:t>
                      </a:r>
                      <a:endParaRPr lang="en-US" altLang="ja-JP" sz="1400" b="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400" b="0" dirty="0" err="1"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EpiCoder</a:t>
                      </a:r>
                      <a:r>
                        <a:rPr lang="en-US" altLang="ja-JP" sz="1400" b="0" dirty="0"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 Feature Tree: 150</a:t>
                      </a:r>
                      <a:r>
                        <a:rPr lang="ja-JP" altLang="en-US" sz="1400" b="0" dirty="0"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万個のソフトウェア機能が体系化された巨大なオントロジー</a:t>
                      </a:r>
                      <a:endParaRPr lang="en-US" altLang="ja-JP" sz="1400" b="0" dirty="0">
                        <a:effectLst/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活用（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Exploit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）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: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機能をツリーから検索し、要件定義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探索（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Explore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）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: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周辺機能必要機能の類推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LLM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による自己チェック</a:t>
                      </a:r>
                      <a:r>
                        <a:rPr lang="en-US" altLang="ja-JP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: </a:t>
                      </a:r>
                      <a:r>
                        <a:rPr lang="ja-JP" altLang="en-US" sz="1400" b="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不足機能の補完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4507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D8DB0F-6FC1-0859-CE63-F091852FA34B}"/>
              </a:ext>
            </a:extLst>
          </p:cNvPr>
          <p:cNvSpPr txBox="1"/>
          <p:nvPr/>
        </p:nvSpPr>
        <p:spPr>
          <a:xfrm>
            <a:off x="511716" y="882133"/>
            <a:ext cx="11085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コーディングにグラフ</a:t>
            </a:r>
            <a:r>
              <a:rPr lang="en-US" altLang="ja-JP" dirty="0">
                <a:latin typeface="Yu Gothic UI" panose="020B0500000000000000" pitchFamily="50" charset="-128"/>
                <a:ea typeface="Yu Gothic UI" panose="020B0500000000000000" pitchFamily="50" charset="-128"/>
              </a:rPr>
              <a:t>RAG</a:t>
            </a:r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を活用する論文</a:t>
            </a:r>
            <a:endParaRPr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コード単体ではなく、リポジトリの読み取り、改修、構築レベルのコーディングを目的とした研究が多数あり。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1348A7-C32B-4DD7-084E-F82CA92F3B88}"/>
              </a:ext>
            </a:extLst>
          </p:cNvPr>
          <p:cNvSpPr txBox="1"/>
          <p:nvPr/>
        </p:nvSpPr>
        <p:spPr>
          <a:xfrm>
            <a:off x="3537858" y="6092327"/>
            <a:ext cx="801188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ja-JP" sz="1100" dirty="0">
                <a:latin typeface="Yu Gothic UI" panose="020B0500000000000000" pitchFamily="50" charset="-128"/>
                <a:ea typeface="Yu Gothic UI" panose="020B0500000000000000" pitchFamily="50" charset="-128"/>
              </a:rPr>
              <a:t>Ouyang, REPOGRAPH: ENHANCING AI SOFTWARE ENGINEERING WITH REPOSITORY-LEVEL CODE GRAP, 2025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100" dirty="0">
                <a:latin typeface="Yu Gothic UI" panose="020B0500000000000000" pitchFamily="50" charset="-128"/>
                <a:ea typeface="Yu Gothic UI" panose="020B0500000000000000" pitchFamily="50" charset="-128"/>
              </a:rPr>
              <a:t>Tao, RETRIEVAL-AUGMENTED CODE GENERATION: A SURVEY WITH FOCUS ON REPOSITORY-LEVEL APPROACHES, 2026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100" dirty="0">
                <a:latin typeface="Yu Gothic UI" panose="020B0500000000000000" pitchFamily="50" charset="-128"/>
                <a:ea typeface="Yu Gothic UI" panose="020B0500000000000000" pitchFamily="50" charset="-128"/>
              </a:rPr>
              <a:t>Luo, RPG: A REPOSITORY PLANNING GRAPH FOR UNIFIED AND SCALABLE CODEBASE GENERATION, 2026</a:t>
            </a:r>
            <a:endParaRPr lang="ja-JP" altLang="en-US" sz="1100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975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D025E-60CA-46CB-8979-3F27C72DE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AF25171-1BC4-9A07-94DF-ED951190B54F}"/>
              </a:ext>
            </a:extLst>
          </p:cNvPr>
          <p:cNvSpPr txBox="1"/>
          <p:nvPr/>
        </p:nvSpPr>
        <p:spPr>
          <a:xfrm>
            <a:off x="339305" y="253042"/>
            <a:ext cx="460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生成</a:t>
            </a:r>
            <a:r>
              <a:rPr kumimoji="1" lang="en-US" altLang="ja-JP" dirty="0"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のコーディング作業への適用</a:t>
            </a: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39D07351-2369-A5E3-5C32-9796FA41E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339551"/>
              </p:ext>
            </p:extLst>
          </p:nvPr>
        </p:nvGraphicFramePr>
        <p:xfrm>
          <a:off x="4471870" y="2185851"/>
          <a:ext cx="744746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293">
                  <a:extLst>
                    <a:ext uri="{9D8B030D-6E8A-4147-A177-3AD203B41FA5}">
                      <a16:colId xmlns:a16="http://schemas.microsoft.com/office/drawing/2014/main" val="2966208523"/>
                    </a:ext>
                  </a:extLst>
                </a:gridCol>
                <a:gridCol w="6504171">
                  <a:extLst>
                    <a:ext uri="{9D8B030D-6E8A-4147-A177-3AD203B41FA5}">
                      <a16:colId xmlns:a16="http://schemas.microsoft.com/office/drawing/2014/main" val="3753059971"/>
                    </a:ext>
                  </a:extLst>
                </a:gridCol>
              </a:tblGrid>
              <a:tr h="167398"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042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設計作業を生成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に丸投げさせるのは困難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　⇒ 新規・保守案件のどちらでも、生成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が理解できない暗黙知が多くある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・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も人も理解できる仕様を作る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　⇒生成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が利用可能 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/ RAG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などで人の理解を支援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・設計支援の際は、図書フォーマット、過去の仕様書などを事前知識として与える（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SDD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では実装用の仕様フォーマットを提供していた）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445658"/>
                  </a:ext>
                </a:extLst>
              </a:tr>
              <a:tr h="358866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実装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生成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が作ったコードは人がレビューする必要がある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実装工程自体をマルチエージェントで実現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最終的なレビュは人が行う必要あり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（仕様と実装の整合性を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GAN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的な敵対的アプローチで監視するなど）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生成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による実装に適した仕様（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BDD: 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振る舞いを定義）が必要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骨組みだけ作らせる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00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テスト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テスト仕様書の作成支援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テストコードの生成（仕様に沿ってテストコード生成、探索的にカバレッジ向上）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テストデータ生成（テストデータ自体の生成、テストデータ生成プログラムの生成）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人が想定しにくいシナリオ創出（ファジングによるランダムデータ生成）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44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開発全体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生成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が開発プロセス全体を支援し、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ID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で各工程を紐づけ、トレーサビリティ確保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プロマネの置き換え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92031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842211-CD3A-DAD3-BFF6-C80920D63AB9}"/>
              </a:ext>
            </a:extLst>
          </p:cNvPr>
          <p:cNvSpPr txBox="1"/>
          <p:nvPr/>
        </p:nvSpPr>
        <p:spPr>
          <a:xfrm>
            <a:off x="908956" y="783771"/>
            <a:ext cx="7353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探索的なアプローチに利用する：</a:t>
            </a:r>
            <a:endParaRPr kumimoji="1"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要求定義、データ分析、手法の探索</a:t>
            </a:r>
            <a:endParaRPr kumimoji="1"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l"/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効率化に利用する：</a:t>
            </a:r>
            <a:endParaRPr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タスク分割、プロマネ支援、実装、レビュー、テスト</a:t>
            </a:r>
            <a:endParaRPr kumimoji="1" lang="ja-JP" altLang="en-US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887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53C61-3675-E415-0C61-D6EBB59B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AA82C2-9478-15EB-5904-5849BA4C8186}"/>
              </a:ext>
            </a:extLst>
          </p:cNvPr>
          <p:cNvSpPr txBox="1"/>
          <p:nvPr/>
        </p:nvSpPr>
        <p:spPr>
          <a:xfrm>
            <a:off x="339305" y="253042"/>
            <a:ext cx="2990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コーディング</a:t>
            </a:r>
            <a:r>
              <a:rPr kumimoji="1" lang="en-US" altLang="ja-JP" dirty="0"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ツール動向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21C3AE1-4A23-1AD6-70F7-1B3A9C414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593162"/>
              </p:ext>
            </p:extLst>
          </p:nvPr>
        </p:nvGraphicFramePr>
        <p:xfrm>
          <a:off x="1894114" y="1243641"/>
          <a:ext cx="6935441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487">
                  <a:extLst>
                    <a:ext uri="{9D8B030D-6E8A-4147-A177-3AD203B41FA5}">
                      <a16:colId xmlns:a16="http://schemas.microsoft.com/office/drawing/2014/main" val="435116908"/>
                    </a:ext>
                  </a:extLst>
                </a:gridCol>
                <a:gridCol w="2654286">
                  <a:extLst>
                    <a:ext uri="{9D8B030D-6E8A-4147-A177-3AD203B41FA5}">
                      <a16:colId xmlns:a16="http://schemas.microsoft.com/office/drawing/2014/main" val="4260568167"/>
                    </a:ext>
                  </a:extLst>
                </a:gridCol>
                <a:gridCol w="2927668">
                  <a:extLst>
                    <a:ext uri="{9D8B030D-6E8A-4147-A177-3AD203B41FA5}">
                      <a16:colId xmlns:a16="http://schemas.microsoft.com/office/drawing/2014/main" val="3089159630"/>
                    </a:ext>
                  </a:extLst>
                </a:gridCol>
              </a:tblGrid>
              <a:tr h="140219">
                <a:tc>
                  <a:txBody>
                    <a:bodyPr/>
                    <a:lstStyle/>
                    <a:p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MCP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Skills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042975"/>
                  </a:ext>
                </a:extLst>
              </a:tr>
              <a:tr h="24244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外部ツール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ツールに接続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特定のタスクの専門知識を継承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445658"/>
                  </a:ext>
                </a:extLst>
              </a:tr>
              <a:tr h="24244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トークン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多い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少ない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003752"/>
                  </a:ext>
                </a:extLst>
              </a:tr>
              <a:tr h="24244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得意シナリオ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DB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接続、ファイルへのアクセス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API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連携、ワークフロー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844507"/>
                  </a:ext>
                </a:extLst>
              </a:tr>
              <a:tr h="21289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形態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サーバー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ツール依存（マークダウン形式）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92031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0DE2E6-1139-E973-AA80-3C80B822E01E}"/>
              </a:ext>
            </a:extLst>
          </p:cNvPr>
          <p:cNvSpPr txBox="1"/>
          <p:nvPr/>
        </p:nvSpPr>
        <p:spPr>
          <a:xfrm>
            <a:off x="676762" y="780999"/>
            <a:ext cx="2990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Yu Gothic UI" panose="020B0500000000000000" pitchFamily="50" charset="-128"/>
                <a:ea typeface="Yu Gothic UI" panose="020B0500000000000000" pitchFamily="50" charset="-128"/>
              </a:rPr>
              <a:t>MCP vs Skills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1392534-E07F-2241-B8BF-AFF5B9231754}"/>
              </a:ext>
            </a:extLst>
          </p:cNvPr>
          <p:cNvSpPr txBox="1"/>
          <p:nvPr/>
        </p:nvSpPr>
        <p:spPr>
          <a:xfrm>
            <a:off x="676762" y="2860951"/>
            <a:ext cx="2990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コーディング</a:t>
            </a:r>
            <a:r>
              <a:rPr lang="en-US" altLang="ja-JP" dirty="0"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dirty="0">
                <a:latin typeface="Yu Gothic UI" panose="020B0500000000000000" pitchFamily="50" charset="-128"/>
                <a:ea typeface="Yu Gothic UI" panose="020B0500000000000000" pitchFamily="50" charset="-128"/>
              </a:rPr>
              <a:t>ツール</a:t>
            </a:r>
            <a:endParaRPr kumimoji="1" lang="en-US" altLang="ja-JP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97FA8E11-B59E-09C6-5056-C33640A55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867061"/>
              </p:ext>
            </p:extLst>
          </p:nvPr>
        </p:nvGraphicFramePr>
        <p:xfrm>
          <a:off x="1008459" y="3247183"/>
          <a:ext cx="10651650" cy="3287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518">
                  <a:extLst>
                    <a:ext uri="{9D8B030D-6E8A-4147-A177-3AD203B41FA5}">
                      <a16:colId xmlns:a16="http://schemas.microsoft.com/office/drawing/2014/main" val="435116908"/>
                    </a:ext>
                  </a:extLst>
                </a:gridCol>
                <a:gridCol w="2258209">
                  <a:extLst>
                    <a:ext uri="{9D8B030D-6E8A-4147-A177-3AD203B41FA5}">
                      <a16:colId xmlns:a16="http://schemas.microsoft.com/office/drawing/2014/main" val="4260568167"/>
                    </a:ext>
                  </a:extLst>
                </a:gridCol>
                <a:gridCol w="2258209">
                  <a:extLst>
                    <a:ext uri="{9D8B030D-6E8A-4147-A177-3AD203B41FA5}">
                      <a16:colId xmlns:a16="http://schemas.microsoft.com/office/drawing/2014/main" val="3089159630"/>
                    </a:ext>
                  </a:extLst>
                </a:gridCol>
                <a:gridCol w="4983714">
                  <a:extLst>
                    <a:ext uri="{9D8B030D-6E8A-4147-A177-3AD203B41FA5}">
                      <a16:colId xmlns:a16="http://schemas.microsoft.com/office/drawing/2014/main" val="2385959212"/>
                    </a:ext>
                  </a:extLst>
                </a:gridCol>
              </a:tblGrid>
              <a:tr h="36125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分野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ツール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形態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できること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042975"/>
                  </a:ext>
                </a:extLst>
              </a:tr>
              <a:tr h="62463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自律型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Devin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Web</a:t>
                      </a:r>
                      <a:r>
                        <a:rPr kumimoji="1" lang="ja-JP" altLang="en-US" sz="140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サービス </a:t>
                      </a:r>
                      <a:r>
                        <a:rPr kumimoji="1" lang="en-US" altLang="ja-JP" sz="140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(SaaS) / </a:t>
                      </a:r>
                      <a:r>
                        <a:rPr kumimoji="1" lang="ja-JP" altLang="en-US" sz="140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クラウド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自然言語の指示だけで、設計からコーディング、環境構築、デバッグ、デプロイまでを自律的に遂行する</a:t>
                      </a:r>
                      <a:endParaRPr kumimoji="1" lang="en-US" altLang="ja-JP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Web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ブラウジングやコマンド実行も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AI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が自ら行う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445658"/>
                  </a:ext>
                </a:extLst>
              </a:tr>
              <a:tr h="624630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OpenHands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オープンソース 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(</a:t>
                      </a:r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ローカル 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/ Docker)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Devin</a:t>
                      </a: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のオープンソース代替（旧名：</a:t>
                      </a:r>
                      <a:r>
                        <a:rPr kumimoji="1" lang="en-US" altLang="ja-JP" sz="1400" kern="1200" dirty="0" err="1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OpenDevin</a:t>
                      </a: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）</a:t>
                      </a:r>
                      <a:endParaRPr kumimoji="1" lang="en-US" altLang="ja-JP" sz="1400" kern="1200" dirty="0">
                        <a:solidFill>
                          <a:schemeClr val="dk1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ローカル</a:t>
                      </a:r>
                      <a:r>
                        <a:rPr kumimoji="1" lang="en-US" altLang="ja-JP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LLM</a:t>
                      </a: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を連携させ、ターミナル操作やブラウザ操作を伴う自律的な開発を実行する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003752"/>
                  </a:ext>
                </a:extLst>
              </a:tr>
              <a:tr h="548484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CLI</a:t>
                      </a:r>
                      <a:r>
                        <a:rPr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型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Claude Code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CLI (</a:t>
                      </a:r>
                      <a:r>
                        <a:rPr kumimoji="1" lang="ja-JP" altLang="en-US" sz="140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コマンドラインツール</a:t>
                      </a:r>
                      <a:r>
                        <a:rPr kumimoji="1" lang="en-US" altLang="ja-JP" sz="140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) / </a:t>
                      </a:r>
                      <a:r>
                        <a:rPr kumimoji="1" lang="ja-JP" altLang="en-US" sz="140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クラウド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開発者のローカルターミナル内で動作する</a:t>
                      </a:r>
                      <a:endParaRPr kumimoji="1" lang="en-US" altLang="ja-JP" sz="1400" kern="1200" dirty="0">
                        <a:solidFill>
                          <a:schemeClr val="dk1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ローカルのファイルやコードベースを直接読み書きし、対話しながらコード編集、コマンド実行、</a:t>
                      </a:r>
                      <a:r>
                        <a:rPr kumimoji="1" lang="en-US" altLang="ja-JP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Git</a:t>
                      </a: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操作を行う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92031"/>
                  </a:ext>
                </a:extLst>
              </a:tr>
              <a:tr h="548484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OpenCode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オープンソース </a:t>
                      </a:r>
                      <a:r>
                        <a:rPr kumimoji="1" lang="en-US" altLang="ja-JP" sz="1400" dirty="0"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(CLI / TUI)</a:t>
                      </a:r>
                      <a:endParaRPr kumimoji="1" lang="ja-JP" altLang="en-US" sz="1400" dirty="0">
                        <a:latin typeface="Yu Gothic UI" panose="020B0500000000000000" pitchFamily="50" charset="-128"/>
                        <a:ea typeface="Yu Gothic UI" panose="020B05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Claude Code</a:t>
                      </a: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のオープンソース代替</a:t>
                      </a:r>
                      <a:endParaRPr kumimoji="1" lang="en-US" altLang="ja-JP" sz="1400" kern="1200" dirty="0">
                        <a:solidFill>
                          <a:schemeClr val="dk1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ターミナル上で動作し、ファイル編集やシェルコマンド実行を行う</a:t>
                      </a:r>
                      <a:endParaRPr kumimoji="1" lang="en-US" altLang="ja-JP" sz="1400" kern="1200" dirty="0">
                        <a:solidFill>
                          <a:schemeClr val="dk1"/>
                        </a:solidFill>
                        <a:latin typeface="Yu Gothic UI" panose="020B0500000000000000" pitchFamily="50" charset="-128"/>
                        <a:ea typeface="Yu Gothic UI" panose="020B0500000000000000" pitchFamily="50" charset="-128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ローカル</a:t>
                      </a:r>
                      <a:r>
                        <a:rPr kumimoji="1" lang="en-US" altLang="ja-JP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LLM</a:t>
                      </a:r>
                      <a:r>
                        <a:rPr kumimoji="1" lang="ja-JP" altLang="en-US" sz="1400" kern="1200" dirty="0">
                          <a:solidFill>
                            <a:schemeClr val="dk1"/>
                          </a:solidFill>
                          <a:latin typeface="Yu Gothic UI" panose="020B0500000000000000" pitchFamily="50" charset="-128"/>
                          <a:ea typeface="Yu Gothic UI" panose="020B0500000000000000" pitchFamily="50" charset="-128"/>
                          <a:cs typeface="+mn-cs"/>
                        </a:rPr>
                        <a:t>など多様なモデルを自由に選択できるのが強み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940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20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Yu Gothic UI" panose="020B0500000000000000" pitchFamily="50" charset="-128"/>
            <a:ea typeface="Yu Gothic UI" panose="020B05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875</Words>
  <Application>Microsoft Office PowerPoint</Application>
  <PresentationFormat>ワイド画面</PresentationFormat>
  <Paragraphs>104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naoki 山田</dc:creator>
  <cp:lastModifiedBy>naoki 山田</cp:lastModifiedBy>
  <cp:revision>47</cp:revision>
  <dcterms:created xsi:type="dcterms:W3CDTF">2026-03-07T04:38:48Z</dcterms:created>
  <dcterms:modified xsi:type="dcterms:W3CDTF">2026-03-08T01:55:25Z</dcterms:modified>
</cp:coreProperties>
</file>